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56" r:id="rId4"/>
    <p:sldId id="257" r:id="rId5"/>
    <p:sldId id="258" r:id="rId6"/>
    <p:sldId id="262" r:id="rId7"/>
    <p:sldId id="263" r:id="rId8"/>
    <p:sldId id="264" r:id="rId9"/>
    <p:sldId id="266" r:id="rId10"/>
    <p:sldId id="267" r:id="rId11"/>
    <p:sldId id="268" r:id="rId12"/>
    <p:sldId id="27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>
        <p:scale>
          <a:sx n="100" d="100"/>
          <a:sy n="100" d="100"/>
        </p:scale>
        <p:origin x="94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056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469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112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039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619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453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000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9698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392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176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03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7BD90-6025-4ACF-A8CA-D1290A361F3F}" type="datetimeFigureOut">
              <a:rPr lang="tr-TR" smtClean="0"/>
              <a:t>24.10.2020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BC83-523B-4326-BAEF-289D323E38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362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riviasecurity.com/nmap-nedir-part-3-3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800793" y="324341"/>
            <a:ext cx="9144000" cy="2387600"/>
          </a:xfrm>
        </p:spPr>
        <p:txBody>
          <a:bodyPr/>
          <a:lstStyle/>
          <a:p>
            <a:r>
              <a:rPr lang="tr-TR" dirty="0" smtClean="0"/>
              <a:t>SOSYOPIX </a:t>
            </a:r>
            <a:br>
              <a:rPr lang="tr-TR" dirty="0" smtClean="0"/>
            </a:br>
            <a:r>
              <a:rPr lang="tr-TR" dirty="0" smtClean="0"/>
              <a:t>TEST ENGINEERING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883920" y="359372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tr-TR" dirty="0" smtClean="0"/>
              <a:t>BU SUNUM E-COMMERCE TEST MİMARİSİ </a:t>
            </a:r>
            <a:r>
              <a:rPr lang="tr-TR" dirty="0" smtClean="0"/>
              <a:t>ÜZERİNE TASLAK AMAÇLIDIR</a:t>
            </a:r>
            <a:endParaRPr lang="tr-TR" dirty="0" smtClean="0"/>
          </a:p>
          <a:p>
            <a:pPr marL="457200" indent="-457200">
              <a:buFont typeface="+mj-lt"/>
              <a:buAutoNum type="arabicPeriod"/>
            </a:pPr>
            <a:r>
              <a:rPr lang="tr-TR" dirty="0" smtClean="0"/>
              <a:t>E-COMMERCE TESTING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 smtClean="0"/>
              <a:t>POSTMAN TESTING SAMPLES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 smtClean="0"/>
              <a:t>JMETER TESTING SAMPLES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162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425"/>
            <a:ext cx="12192000" cy="5317087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343399" y="6162675"/>
            <a:ext cx="387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Resimdeki kedi çok tatlı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877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2302626" y="190499"/>
            <a:ext cx="5137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smtClean="0"/>
              <a:t>SOSYOPİX TEST MİMARİ KURGU</a:t>
            </a:r>
          </a:p>
        </p:txBody>
      </p:sp>
      <p:sp>
        <p:nvSpPr>
          <p:cNvPr id="5" name="Metin kutusu 4"/>
          <p:cNvSpPr txBox="1"/>
          <p:nvPr/>
        </p:nvSpPr>
        <p:spPr>
          <a:xfrm>
            <a:off x="207818" y="872837"/>
            <a:ext cx="103659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Sosyopix’e</a:t>
            </a:r>
            <a:r>
              <a:rPr lang="tr-TR" dirty="0" smtClean="0"/>
              <a:t> erişimimiz web ve mobil uygulamalardan üzerinde oluyor.</a:t>
            </a:r>
          </a:p>
          <a:p>
            <a:r>
              <a:rPr lang="tr-TR" dirty="0" smtClean="0"/>
              <a:t>Web için tarayıcılardan, mobil olarak ise </a:t>
            </a:r>
            <a:r>
              <a:rPr lang="tr-TR" dirty="0" err="1" smtClean="0"/>
              <a:t>Android</a:t>
            </a:r>
            <a:r>
              <a:rPr lang="tr-TR" dirty="0" smtClean="0"/>
              <a:t> ve </a:t>
            </a:r>
            <a:r>
              <a:rPr lang="tr-TR" dirty="0" err="1" smtClean="0"/>
              <a:t>iOS</a:t>
            </a:r>
            <a:r>
              <a:rPr lang="tr-TR" dirty="0" smtClean="0"/>
              <a:t> cihazlardan </a:t>
            </a:r>
            <a:r>
              <a:rPr lang="tr-TR" dirty="0" err="1" smtClean="0"/>
              <a:t>sosyopix’e</a:t>
            </a:r>
            <a:r>
              <a:rPr lang="tr-TR" dirty="0" smtClean="0"/>
              <a:t> erişim sağlanmaktadır.</a:t>
            </a:r>
          </a:p>
          <a:p>
            <a:r>
              <a:rPr lang="tr-TR" dirty="0" err="1" smtClean="0"/>
              <a:t>Sosyopix’i</a:t>
            </a:r>
            <a:r>
              <a:rPr lang="tr-TR" dirty="0" smtClean="0"/>
              <a:t> bir e-</a:t>
            </a:r>
            <a:r>
              <a:rPr lang="tr-TR" dirty="0" err="1" smtClean="0"/>
              <a:t>commerce</a:t>
            </a:r>
            <a:r>
              <a:rPr lang="tr-TR" dirty="0" smtClean="0"/>
              <a:t> uygulaması olarak ele aldığımızda test </a:t>
            </a:r>
            <a:r>
              <a:rPr lang="tr-TR" dirty="0" err="1" smtClean="0"/>
              <a:t>mimarizi</a:t>
            </a:r>
            <a:r>
              <a:rPr lang="tr-TR" dirty="0" smtClean="0"/>
              <a:t> e-</a:t>
            </a:r>
            <a:r>
              <a:rPr lang="tr-TR" dirty="0" err="1" smtClean="0"/>
              <a:t>commerce</a:t>
            </a:r>
            <a:r>
              <a:rPr lang="tr-TR" dirty="0" smtClean="0"/>
              <a:t> </a:t>
            </a:r>
            <a:r>
              <a:rPr lang="tr-TR" dirty="0" err="1" smtClean="0"/>
              <a:t>testing</a:t>
            </a:r>
            <a:r>
              <a:rPr lang="tr-TR" dirty="0" smtClean="0"/>
              <a:t> çerçevesinde inceleyebiliriz. E-Commerce </a:t>
            </a:r>
            <a:r>
              <a:rPr lang="tr-TR" dirty="0" err="1" smtClean="0"/>
              <a:t>testing</a:t>
            </a:r>
            <a:r>
              <a:rPr lang="tr-TR" dirty="0" smtClean="0"/>
              <a:t> bize der ki;(hepsini yazmadım, sunum sıkıcı olmasın</a:t>
            </a:r>
            <a:r>
              <a:rPr lang="tr-TR" dirty="0" smtClean="0">
                <a:sym typeface="Wingdings" panose="05000000000000000000" pitchFamily="2" charset="2"/>
              </a:rPr>
              <a:t>)</a:t>
            </a:r>
            <a:endParaRPr lang="tr-TR" dirty="0" smtClean="0"/>
          </a:p>
          <a:p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smtClean="0"/>
              <a:t>Browser </a:t>
            </a:r>
            <a:r>
              <a:rPr lang="tr-TR" dirty="0" err="1" smtClean="0"/>
              <a:t>Compabilitiy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Session</a:t>
            </a:r>
            <a:r>
              <a:rPr lang="tr-TR" dirty="0" smtClean="0"/>
              <a:t>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Usability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r>
              <a:rPr lang="tr-TR" dirty="0" smtClean="0"/>
              <a:t>Content Analysis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Internationalization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smtClean="0"/>
              <a:t>Integration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Performance</a:t>
            </a:r>
            <a:r>
              <a:rPr lang="tr-TR" dirty="0" smtClean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Login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Security  </a:t>
            </a:r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r>
              <a:rPr lang="tr-TR" dirty="0" smtClean="0"/>
              <a:t>Bir sonraki slaytta bu maddelere kısaca </a:t>
            </a:r>
          </a:p>
          <a:p>
            <a:r>
              <a:rPr lang="tr-TR" dirty="0" smtClean="0"/>
              <a:t>Özetlemek isterim.</a:t>
            </a:r>
            <a:endParaRPr lang="tr-TR" dirty="0"/>
          </a:p>
        </p:txBody>
      </p:sp>
      <p:pic>
        <p:nvPicPr>
          <p:cNvPr id="22" name="Resim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854" y="224097"/>
            <a:ext cx="2257425" cy="723900"/>
          </a:xfrm>
          <a:prstGeom prst="rect">
            <a:avLst/>
          </a:prstGeom>
        </p:spPr>
      </p:pic>
      <p:pic>
        <p:nvPicPr>
          <p:cNvPr id="23" name="Resim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4868747"/>
            <a:ext cx="72199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9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970116" y="199505"/>
            <a:ext cx="6458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smtClean="0"/>
              <a:t>E-COMMERCE TESTING</a:t>
            </a:r>
            <a:endParaRPr lang="tr-TR" sz="20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448887" y="568837"/>
            <a:ext cx="112304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dirty="0" smtClean="0"/>
              <a:t>Browser </a:t>
            </a:r>
            <a:r>
              <a:rPr lang="tr-TR" dirty="0" err="1" smtClean="0"/>
              <a:t>Compability</a:t>
            </a:r>
            <a:endParaRPr lang="tr-TR" dirty="0" smtClean="0"/>
          </a:p>
          <a:p>
            <a:r>
              <a:rPr lang="tr-TR" dirty="0" smtClean="0"/>
              <a:t>Browser </a:t>
            </a:r>
            <a:r>
              <a:rPr lang="tr-TR" dirty="0" err="1" smtClean="0"/>
              <a:t>compability</a:t>
            </a:r>
            <a:r>
              <a:rPr lang="tr-TR" dirty="0" smtClean="0"/>
              <a:t> aslında tarayıcı uyumu demek, yazılan web </a:t>
            </a:r>
            <a:r>
              <a:rPr lang="tr-TR" dirty="0" err="1" smtClean="0"/>
              <a:t>uygulamasınında</a:t>
            </a:r>
            <a:r>
              <a:rPr lang="tr-TR" dirty="0" smtClean="0"/>
              <a:t> </a:t>
            </a:r>
            <a:r>
              <a:rPr lang="tr-TR" dirty="0" err="1" smtClean="0"/>
              <a:t>Chrome</a:t>
            </a:r>
            <a:r>
              <a:rPr lang="tr-TR" dirty="0" smtClean="0"/>
              <a:t>, Safari, </a:t>
            </a:r>
            <a:r>
              <a:rPr lang="tr-TR" dirty="0" err="1" smtClean="0"/>
              <a:t>Mozilla</a:t>
            </a:r>
            <a:r>
              <a:rPr lang="tr-TR" dirty="0" smtClean="0"/>
              <a:t> veya IE tarayıcılarının farklı sürümlerinde  düzgün çalışmasının kontrol edilmesi demek. Bütün tarayıcıların bütün sürümlerini test etmek tabi ki mümkün değildir ancak Google </a:t>
            </a:r>
            <a:r>
              <a:rPr lang="tr-TR" dirty="0" err="1" smtClean="0"/>
              <a:t>analytics</a:t>
            </a:r>
            <a:r>
              <a:rPr lang="tr-TR" dirty="0" smtClean="0"/>
              <a:t> üzerinde web uygulamasına en çok trafiğin hangi tarayıcılarda gelmesi analiz edilerek </a:t>
            </a:r>
            <a:r>
              <a:rPr lang="tr-TR" dirty="0" err="1" smtClean="0"/>
              <a:t>regression</a:t>
            </a:r>
            <a:r>
              <a:rPr lang="tr-TR" dirty="0" smtClean="0"/>
              <a:t> süit bu tarayıcılarda koşabilir.</a:t>
            </a:r>
          </a:p>
          <a:p>
            <a:endParaRPr lang="tr-TR" dirty="0" smtClean="0"/>
          </a:p>
          <a:p>
            <a:r>
              <a:rPr lang="tr-TR" dirty="0" smtClean="0"/>
              <a:t>2.Session Management</a:t>
            </a:r>
          </a:p>
          <a:p>
            <a:r>
              <a:rPr lang="tr-TR" dirty="0" err="1" smtClean="0"/>
              <a:t>Session</a:t>
            </a:r>
            <a:r>
              <a:rPr lang="tr-TR" dirty="0" smtClean="0"/>
              <a:t> </a:t>
            </a:r>
            <a:r>
              <a:rPr lang="tr-TR" dirty="0" err="1" smtClean="0"/>
              <a:t>management</a:t>
            </a:r>
            <a:r>
              <a:rPr lang="tr-TR" dirty="0" smtClean="0"/>
              <a:t> testlerinde ise uygulamada gerek mobil ve gerek web uygulamasında </a:t>
            </a:r>
            <a:r>
              <a:rPr lang="tr-TR" dirty="0" err="1" smtClean="0"/>
              <a:t>login</a:t>
            </a:r>
            <a:r>
              <a:rPr lang="tr-TR" dirty="0" smtClean="0"/>
              <a:t> olan kullanıcın </a:t>
            </a:r>
            <a:r>
              <a:rPr lang="tr-TR" dirty="0" err="1" smtClean="0"/>
              <a:t>login</a:t>
            </a:r>
            <a:r>
              <a:rPr lang="tr-TR" dirty="0" smtClean="0"/>
              <a:t> olduktan sonraki </a:t>
            </a:r>
            <a:r>
              <a:rPr lang="tr-TR" dirty="0" err="1" smtClean="0"/>
              <a:t>session</a:t>
            </a:r>
            <a:r>
              <a:rPr lang="tr-TR" dirty="0" smtClean="0"/>
              <a:t> süresinde yaptığı işlemleri eksiksiz kaydedildiğini, bunu gerek uygulamayı </a:t>
            </a:r>
            <a:r>
              <a:rPr lang="tr-TR" dirty="0" err="1" smtClean="0"/>
              <a:t>consume</a:t>
            </a:r>
            <a:r>
              <a:rPr lang="tr-TR" dirty="0" smtClean="0"/>
              <a:t> eden </a:t>
            </a:r>
            <a:r>
              <a:rPr lang="tr-TR" dirty="0" err="1" smtClean="0"/>
              <a:t>kafka</a:t>
            </a:r>
            <a:r>
              <a:rPr lang="tr-TR" dirty="0" smtClean="0"/>
              <a:t>, </a:t>
            </a:r>
            <a:r>
              <a:rPr lang="tr-TR" dirty="0" err="1" smtClean="0"/>
              <a:t>spark</a:t>
            </a:r>
            <a:r>
              <a:rPr lang="tr-TR" dirty="0" smtClean="0"/>
              <a:t> gibi </a:t>
            </a:r>
            <a:r>
              <a:rPr lang="tr-TR" dirty="0" err="1" smtClean="0"/>
              <a:t>queue</a:t>
            </a:r>
            <a:r>
              <a:rPr lang="tr-TR" dirty="0" smtClean="0"/>
              <a:t> </a:t>
            </a:r>
            <a:r>
              <a:rPr lang="tr-TR" dirty="0" err="1" smtClean="0"/>
              <a:t>managerledan</a:t>
            </a:r>
            <a:r>
              <a:rPr lang="tr-TR" dirty="0" smtClean="0"/>
              <a:t> takip edilebileceği gibi </a:t>
            </a:r>
            <a:r>
              <a:rPr lang="tr-TR" dirty="0" err="1" smtClean="0"/>
              <a:t>backend</a:t>
            </a:r>
            <a:r>
              <a:rPr lang="tr-TR" dirty="0" smtClean="0"/>
              <a:t> </a:t>
            </a:r>
            <a:r>
              <a:rPr lang="tr-TR" dirty="0" err="1" smtClean="0"/>
              <a:t>makienlerine</a:t>
            </a:r>
            <a:r>
              <a:rPr lang="tr-TR" dirty="0" smtClean="0"/>
              <a:t> </a:t>
            </a:r>
            <a:r>
              <a:rPr lang="tr-TR" dirty="0" err="1" smtClean="0"/>
              <a:t>login</a:t>
            </a:r>
            <a:r>
              <a:rPr lang="tr-TR" dirty="0" smtClean="0"/>
              <a:t> olarak da izlemek mümkündür. Ve bu işlemlerde herhangi bir </a:t>
            </a:r>
            <a:r>
              <a:rPr lang="tr-TR" dirty="0" err="1" smtClean="0"/>
              <a:t>database</a:t>
            </a:r>
            <a:r>
              <a:rPr lang="tr-TR" dirty="0" smtClean="0"/>
              <a:t> insert var ise o </a:t>
            </a:r>
            <a:r>
              <a:rPr lang="tr-TR" dirty="0" err="1" smtClean="0"/>
              <a:t>database</a:t>
            </a:r>
            <a:r>
              <a:rPr lang="tr-TR" dirty="0" smtClean="0"/>
              <a:t> testini de gerçekleştirmek gerekir.</a:t>
            </a:r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861" y="5131031"/>
            <a:ext cx="1390650" cy="3524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437" y="3971665"/>
            <a:ext cx="2571750" cy="110490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86" y="3929149"/>
            <a:ext cx="1619250" cy="1676400"/>
          </a:xfrm>
          <a:prstGeom prst="rect">
            <a:avLst/>
          </a:prstGeom>
        </p:spPr>
      </p:pic>
      <p:cxnSp>
        <p:nvCxnSpPr>
          <p:cNvPr id="11" name="Düz Ok Bağlayıcısı 10"/>
          <p:cNvCxnSpPr>
            <a:endCxn id="8" idx="1"/>
          </p:cNvCxnSpPr>
          <p:nvPr/>
        </p:nvCxnSpPr>
        <p:spPr>
          <a:xfrm>
            <a:off x="2275436" y="4340997"/>
            <a:ext cx="1493001" cy="18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531" y="5076565"/>
            <a:ext cx="1981200" cy="1476375"/>
          </a:xfrm>
          <a:prstGeom prst="rect">
            <a:avLst/>
          </a:prstGeom>
        </p:spPr>
      </p:pic>
      <p:cxnSp>
        <p:nvCxnSpPr>
          <p:cNvPr id="14" name="Düz Ok Bağlayıcısı 13"/>
          <p:cNvCxnSpPr>
            <a:stCxn id="8" idx="3"/>
            <a:endCxn id="12" idx="1"/>
          </p:cNvCxnSpPr>
          <p:nvPr/>
        </p:nvCxnSpPr>
        <p:spPr>
          <a:xfrm>
            <a:off x="6340187" y="4524115"/>
            <a:ext cx="1267344" cy="1290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112" y="4257577"/>
            <a:ext cx="885825" cy="676275"/>
          </a:xfrm>
          <a:prstGeom prst="rect">
            <a:avLst/>
          </a:prstGeom>
        </p:spPr>
      </p:pic>
      <p:cxnSp>
        <p:nvCxnSpPr>
          <p:cNvPr id="21" name="Düz Ok Bağlayıcısı 20"/>
          <p:cNvCxnSpPr>
            <a:stCxn id="7" idx="3"/>
            <a:endCxn id="12" idx="1"/>
          </p:cNvCxnSpPr>
          <p:nvPr/>
        </p:nvCxnSpPr>
        <p:spPr>
          <a:xfrm>
            <a:off x="5542511" y="5307244"/>
            <a:ext cx="2065020" cy="50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>
            <a:stCxn id="9" idx="3"/>
          </p:cNvCxnSpPr>
          <p:nvPr/>
        </p:nvCxnSpPr>
        <p:spPr>
          <a:xfrm>
            <a:off x="2275436" y="4767349"/>
            <a:ext cx="1988993" cy="72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Resim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4283" y="5531449"/>
            <a:ext cx="22383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2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41316" y="232756"/>
            <a:ext cx="1079823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3.Usability</a:t>
            </a:r>
          </a:p>
          <a:p>
            <a:r>
              <a:rPr lang="tr-TR" dirty="0" err="1" smtClean="0"/>
              <a:t>Usability</a:t>
            </a:r>
            <a:r>
              <a:rPr lang="tr-TR" dirty="0" smtClean="0"/>
              <a:t> aslında kullanışlılık, bu test aslında </a:t>
            </a:r>
            <a:r>
              <a:rPr lang="tr-TR" dirty="0" err="1" smtClean="0"/>
              <a:t>non-technic</a:t>
            </a:r>
            <a:r>
              <a:rPr lang="tr-TR" dirty="0" smtClean="0"/>
              <a:t> bir test türü denilebilir.</a:t>
            </a:r>
          </a:p>
          <a:p>
            <a:r>
              <a:rPr lang="tr-TR" dirty="0" smtClean="0"/>
              <a:t>Yani gerek </a:t>
            </a:r>
            <a:r>
              <a:rPr lang="tr-TR" dirty="0" err="1" smtClean="0"/>
              <a:t>webte</a:t>
            </a:r>
            <a:r>
              <a:rPr lang="tr-TR" dirty="0" smtClean="0"/>
              <a:t> gerek mobilde kullanıcı </a:t>
            </a:r>
            <a:r>
              <a:rPr lang="tr-TR" dirty="0" err="1" smtClean="0"/>
              <a:t>sosyopixe</a:t>
            </a:r>
            <a:r>
              <a:rPr lang="tr-TR" dirty="0" smtClean="0"/>
              <a:t> geldiğinde ürüne hızlı erişebiliyor mu, hızlı sepete gidip ödemeyi hızlı yapabiliyor mu veya </a:t>
            </a:r>
            <a:r>
              <a:rPr lang="tr-TR" dirty="0" err="1" smtClean="0"/>
              <a:t>sitemap</a:t>
            </a:r>
            <a:r>
              <a:rPr lang="tr-TR" dirty="0" smtClean="0"/>
              <a:t> UX açısından uygun mu gibi konularda yapılan testler denilebilir.</a:t>
            </a:r>
          </a:p>
          <a:p>
            <a:r>
              <a:rPr lang="tr-TR" dirty="0" smtClean="0"/>
              <a:t>UX </a:t>
            </a:r>
            <a:r>
              <a:rPr lang="tr-TR" dirty="0" err="1" smtClean="0"/>
              <a:t>testing</a:t>
            </a:r>
            <a:r>
              <a:rPr lang="tr-TR" dirty="0" smtClean="0"/>
              <a:t> çerçevesinden yaklaşılabilir. Amaç en hızlı ve en uygun şekilde müşteriye hizmet ver ve ödemeni al.</a:t>
            </a:r>
          </a:p>
          <a:p>
            <a:endParaRPr lang="tr-TR" dirty="0"/>
          </a:p>
          <a:p>
            <a:r>
              <a:rPr lang="tr-TR" dirty="0" smtClean="0"/>
              <a:t>4. Content Analysis</a:t>
            </a:r>
          </a:p>
          <a:p>
            <a:r>
              <a:rPr lang="tr-TR" dirty="0" smtClean="0"/>
              <a:t>Bu kapsamda ise uygulamalarda yayınlanan içerikler ve bunların</a:t>
            </a:r>
          </a:p>
          <a:p>
            <a:r>
              <a:rPr lang="tr-TR" dirty="0" smtClean="0"/>
              <a:t> üzerine yapılan testlerdir.</a:t>
            </a:r>
          </a:p>
          <a:p>
            <a:r>
              <a:rPr lang="tr-TR" dirty="0" smtClean="0"/>
              <a:t>Belki bir haftalık ya da günlük </a:t>
            </a:r>
            <a:r>
              <a:rPr lang="tr-TR" dirty="0" err="1" smtClean="0"/>
              <a:t>regression</a:t>
            </a:r>
            <a:r>
              <a:rPr lang="tr-TR" dirty="0" smtClean="0"/>
              <a:t> olmasa bile ortak verilecek bir kararla </a:t>
            </a:r>
          </a:p>
          <a:p>
            <a:r>
              <a:rPr lang="tr-TR" dirty="0" smtClean="0"/>
              <a:t>Yayınlanan içeriklerde telif hakkı ihlali, argo içerik gibi içeriklerin kontrol edilmesi</a:t>
            </a:r>
          </a:p>
          <a:p>
            <a:r>
              <a:rPr lang="tr-TR" dirty="0" smtClean="0"/>
              <a:t>Gerekebilir.</a:t>
            </a:r>
          </a:p>
          <a:p>
            <a:r>
              <a:rPr lang="tr-TR" dirty="0" smtClean="0"/>
              <a:t>Ayrıca kişiselleştirme işlevleri de kapsama dahil edilebilir. Örneğin </a:t>
            </a:r>
            <a:r>
              <a:rPr lang="tr-TR" dirty="0" err="1" smtClean="0"/>
              <a:t>registered</a:t>
            </a:r>
            <a:r>
              <a:rPr lang="tr-TR" dirty="0" smtClean="0"/>
              <a:t> bir </a:t>
            </a:r>
          </a:p>
          <a:p>
            <a:r>
              <a:rPr lang="tr-TR" dirty="0" smtClean="0"/>
              <a:t>Kullanıcının son aldığı siparişlere göre veya top3 </a:t>
            </a:r>
            <a:r>
              <a:rPr lang="tr-TR" dirty="0" err="1" smtClean="0"/>
              <a:t>count</a:t>
            </a:r>
            <a:r>
              <a:rPr lang="tr-TR" dirty="0" smtClean="0"/>
              <a:t> siparişlerine göre kullanıcı </a:t>
            </a:r>
            <a:r>
              <a:rPr lang="tr-TR" dirty="0" err="1" smtClean="0"/>
              <a:t>login</a:t>
            </a:r>
            <a:r>
              <a:rPr lang="tr-TR" dirty="0" smtClean="0"/>
              <a:t> olduğunda ona o siparişine göre banner ve </a:t>
            </a:r>
            <a:r>
              <a:rPr lang="tr-TR" dirty="0" err="1" smtClean="0"/>
              <a:t>friendly</a:t>
            </a:r>
            <a:r>
              <a:rPr lang="tr-TR" dirty="0" smtClean="0"/>
              <a:t> bir mesaj bastırabilir. Banner veya mesajın kullanıcıyı rahatsız etmeden veya uygulamada hareketini engellemeden verilmesi önemlidir. Bütün sayfayı </a:t>
            </a:r>
            <a:r>
              <a:rPr lang="tr-TR" dirty="0" err="1" smtClean="0"/>
              <a:t>kaplıyacak</a:t>
            </a:r>
            <a:r>
              <a:rPr lang="tr-TR" dirty="0" smtClean="0"/>
              <a:t> bir banner hoş olmaz. Çünkü </a:t>
            </a:r>
            <a:r>
              <a:rPr lang="tr-TR" dirty="0" smtClean="0"/>
              <a:t>önceki </a:t>
            </a:r>
          </a:p>
          <a:p>
            <a:r>
              <a:rPr lang="tr-TR" dirty="0" smtClean="0"/>
              <a:t>iş</a:t>
            </a:r>
            <a:r>
              <a:rPr lang="tr-TR" dirty="0" smtClean="0"/>
              <a:t> </a:t>
            </a:r>
            <a:r>
              <a:rPr lang="tr-TR" dirty="0" smtClean="0"/>
              <a:t>deneyimlerimde BIP uygulamasında </a:t>
            </a:r>
            <a:r>
              <a:rPr lang="tr-TR" dirty="0" err="1" smtClean="0"/>
              <a:t>full</a:t>
            </a:r>
            <a:r>
              <a:rPr lang="tr-TR" dirty="0" smtClean="0"/>
              <a:t> </a:t>
            </a:r>
            <a:r>
              <a:rPr lang="tr-TR" dirty="0" err="1" smtClean="0"/>
              <a:t>page</a:t>
            </a:r>
            <a:r>
              <a:rPr lang="tr-TR" dirty="0" smtClean="0"/>
              <a:t> banner </a:t>
            </a:r>
            <a:r>
              <a:rPr lang="tr-TR" dirty="0" err="1" smtClean="0"/>
              <a:t>feature</a:t>
            </a:r>
            <a:r>
              <a:rPr lang="tr-TR" dirty="0" smtClean="0"/>
              <a:t> </a:t>
            </a:r>
            <a:r>
              <a:rPr lang="tr-TR" b="1" dirty="0" smtClean="0"/>
              <a:t>yaptırıldı</a:t>
            </a:r>
            <a:r>
              <a:rPr lang="tr-TR" dirty="0" smtClean="0"/>
              <a:t>, </a:t>
            </a:r>
            <a:r>
              <a:rPr lang="tr-TR" dirty="0" err="1" smtClean="0"/>
              <a:t>business</a:t>
            </a:r>
            <a:r>
              <a:rPr lang="tr-TR" dirty="0" smtClean="0"/>
              <a:t> baskısı altında sonuç ise hoş olmayan </a:t>
            </a:r>
            <a:r>
              <a:rPr lang="tr-TR" dirty="0" err="1" smtClean="0"/>
              <a:t>appstore</a:t>
            </a:r>
            <a:r>
              <a:rPr lang="tr-TR" dirty="0" smtClean="0"/>
              <a:t> ve </a:t>
            </a:r>
            <a:r>
              <a:rPr lang="tr-TR" dirty="0" err="1" smtClean="0"/>
              <a:t>playstore</a:t>
            </a:r>
            <a:r>
              <a:rPr lang="tr-TR" dirty="0" smtClean="0"/>
              <a:t> yorumları olmuştu.</a:t>
            </a:r>
          </a:p>
          <a:p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86" y="2072039"/>
            <a:ext cx="3717124" cy="1676746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617" y="5178656"/>
            <a:ext cx="21526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9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82385" y="216131"/>
            <a:ext cx="1170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5.Internationalization</a:t>
            </a:r>
          </a:p>
          <a:p>
            <a:endParaRPr lang="tr-TR" dirty="0"/>
          </a:p>
          <a:p>
            <a:r>
              <a:rPr lang="tr-TR" dirty="0" smtClean="0"/>
              <a:t>Birden farklı dilde </a:t>
            </a:r>
            <a:r>
              <a:rPr lang="tr-TR" dirty="0" err="1" smtClean="0"/>
              <a:t>front-end</a:t>
            </a:r>
            <a:r>
              <a:rPr lang="tr-TR" dirty="0" smtClean="0"/>
              <a:t> bazında uygulamanın fonksiyonlarının kontrol edilmesidir, diyebiliriz.</a:t>
            </a:r>
          </a:p>
          <a:p>
            <a:r>
              <a:rPr lang="tr-TR" dirty="0" smtClean="0"/>
              <a:t>Örneğin ben dili «</a:t>
            </a:r>
            <a:r>
              <a:rPr lang="tr-TR" dirty="0" err="1" smtClean="0"/>
              <a:t>english</a:t>
            </a:r>
            <a:r>
              <a:rPr lang="tr-TR" dirty="0" smtClean="0"/>
              <a:t>» seçtiğimde de ürün kategorilerinden tutun da ödemenin yapılıp sipariş takibine kadar bütün süreçlerde </a:t>
            </a:r>
            <a:r>
              <a:rPr lang="tr-TR" dirty="0" err="1" smtClean="0"/>
              <a:t>front-endte</a:t>
            </a:r>
            <a:r>
              <a:rPr lang="tr-TR" dirty="0" smtClean="0"/>
              <a:t> bozulma yada aksama olmaması gerekir.</a:t>
            </a:r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9" y="1721947"/>
            <a:ext cx="8595706" cy="1687936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216131" y="3484538"/>
            <a:ext cx="105654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6.System Integration</a:t>
            </a:r>
          </a:p>
          <a:p>
            <a:r>
              <a:rPr lang="tr-TR" dirty="0" smtClean="0"/>
              <a:t>İşte en önemli kısımlardan biri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</a:p>
          <a:p>
            <a:r>
              <a:rPr lang="tr-TR" dirty="0" smtClean="0">
                <a:sym typeface="Wingdings" panose="05000000000000000000" pitchFamily="2" charset="2"/>
              </a:rPr>
              <a:t>Yani ben gerek </a:t>
            </a:r>
            <a:r>
              <a:rPr lang="tr-TR" dirty="0" err="1" smtClean="0">
                <a:sym typeface="Wingdings" panose="05000000000000000000" pitchFamily="2" charset="2"/>
              </a:rPr>
              <a:t>backend</a:t>
            </a:r>
            <a:r>
              <a:rPr lang="tr-TR" dirty="0" smtClean="0">
                <a:sym typeface="Wingdings" panose="05000000000000000000" pitchFamily="2" charset="2"/>
              </a:rPr>
              <a:t> gerek </a:t>
            </a:r>
            <a:r>
              <a:rPr lang="tr-TR" dirty="0" err="1" smtClean="0">
                <a:sym typeface="Wingdings" panose="05000000000000000000" pitchFamily="2" charset="2"/>
              </a:rPr>
              <a:t>frontend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feature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smtClean="0">
                <a:sym typeface="Wingdings" panose="05000000000000000000" pitchFamily="2" charset="2"/>
              </a:rPr>
              <a:t>da geliştirsem </a:t>
            </a:r>
            <a:r>
              <a:rPr lang="tr-TR" dirty="0" err="1" smtClean="0">
                <a:sym typeface="Wingdings" panose="05000000000000000000" pitchFamily="2" charset="2"/>
              </a:rPr>
              <a:t>integration</a:t>
            </a:r>
            <a:r>
              <a:rPr lang="tr-TR" dirty="0" smtClean="0">
                <a:sym typeface="Wingdings" panose="05000000000000000000" pitchFamily="2" charset="2"/>
              </a:rPr>
              <a:t> testinin </a:t>
            </a:r>
            <a:r>
              <a:rPr lang="tr-TR" dirty="0" err="1" smtClean="0">
                <a:sym typeface="Wingdings" panose="05000000000000000000" pitchFamily="2" charset="2"/>
              </a:rPr>
              <a:t>pass</a:t>
            </a:r>
            <a:r>
              <a:rPr lang="tr-TR" dirty="0" smtClean="0">
                <a:sym typeface="Wingdings" panose="05000000000000000000" pitchFamily="2" charset="2"/>
              </a:rPr>
              <a:t> olması gerekir, o </a:t>
            </a:r>
            <a:r>
              <a:rPr lang="tr-TR" dirty="0" err="1" smtClean="0">
                <a:sym typeface="Wingdings" panose="05000000000000000000" pitchFamily="2" charset="2"/>
              </a:rPr>
              <a:t>feature’ın</a:t>
            </a:r>
            <a:r>
              <a:rPr lang="tr-TR" dirty="0" smtClean="0">
                <a:sym typeface="Wingdings" panose="05000000000000000000" pitchFamily="2" charset="2"/>
              </a:rPr>
              <a:t> sahaya çıkabilmesi için.</a:t>
            </a:r>
          </a:p>
          <a:p>
            <a:r>
              <a:rPr lang="tr-TR" dirty="0" smtClean="0">
                <a:sym typeface="Wingdings" panose="05000000000000000000" pitchFamily="2" charset="2"/>
              </a:rPr>
              <a:t>Örneğin aksesuar kategorisi için </a:t>
            </a:r>
            <a:r>
              <a:rPr lang="tr-TR" dirty="0" err="1" smtClean="0">
                <a:sym typeface="Wingdings" panose="05000000000000000000" pitchFamily="2" charset="2"/>
              </a:rPr>
              <a:t>backend</a:t>
            </a:r>
            <a:r>
              <a:rPr lang="tr-TR" dirty="0" smtClean="0">
                <a:sym typeface="Wingdings" panose="05000000000000000000" pitchFamily="2" charset="2"/>
              </a:rPr>
              <a:t> geliştirmesi yapıldı sonuçta benim </a:t>
            </a:r>
            <a:r>
              <a:rPr lang="tr-TR" dirty="0" err="1" smtClean="0">
                <a:sym typeface="Wingdings" panose="05000000000000000000" pitchFamily="2" charset="2"/>
              </a:rPr>
              <a:t>backend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regressionum</a:t>
            </a:r>
            <a:r>
              <a:rPr lang="tr-TR" dirty="0" smtClean="0">
                <a:sym typeface="Wingdings" panose="05000000000000000000" pitchFamily="2" charset="2"/>
              </a:rPr>
              <a:t> okey olsa bile </a:t>
            </a:r>
            <a:r>
              <a:rPr lang="tr-TR" dirty="0" err="1" smtClean="0">
                <a:sym typeface="Wingdings" panose="05000000000000000000" pitchFamily="2" charset="2"/>
              </a:rPr>
              <a:t>integration</a:t>
            </a:r>
            <a:r>
              <a:rPr lang="tr-TR" dirty="0" smtClean="0">
                <a:sym typeface="Wingdings" panose="05000000000000000000" pitchFamily="2" charset="2"/>
              </a:rPr>
              <a:t> test fail olursa geliştirme başarılıdır diyemeyiz, yani burada örnek ve detaylara girsek slaytlar yetmez ama kısaca veya kabaca bu şekilde örnek </a:t>
            </a:r>
            <a:r>
              <a:rPr lang="tr-TR" dirty="0" err="1" smtClean="0">
                <a:sym typeface="Wingdings" panose="05000000000000000000" pitchFamily="2" charset="2"/>
              </a:rPr>
              <a:t>verebilrim</a:t>
            </a:r>
            <a:r>
              <a:rPr lang="tr-TR" dirty="0" smtClean="0">
                <a:sym typeface="Wingdings" panose="05000000000000000000" pitchFamily="2" charset="2"/>
              </a:rPr>
              <a:t>. Örneğin dekoratif </a:t>
            </a:r>
            <a:r>
              <a:rPr lang="tr-TR" dirty="0" err="1" smtClean="0">
                <a:sym typeface="Wingdings" panose="05000000000000000000" pitchFamily="2" charset="2"/>
              </a:rPr>
              <a:t>led</a:t>
            </a:r>
            <a:r>
              <a:rPr lang="tr-TR" dirty="0" smtClean="0">
                <a:sym typeface="Wingdings" panose="05000000000000000000" pitchFamily="2" charset="2"/>
              </a:rPr>
              <a:t> alanlarda aksesuar ürünleri %10 indirimli gibi bir kampanya çıkacağında sonuçta bu ürünlerini alımını ve indirimi anlayacak </a:t>
            </a:r>
            <a:r>
              <a:rPr lang="tr-TR" dirty="0" err="1" smtClean="0">
                <a:sym typeface="Wingdings" panose="05000000000000000000" pitchFamily="2" charset="2"/>
              </a:rPr>
              <a:t>backend</a:t>
            </a:r>
            <a:r>
              <a:rPr lang="tr-TR" dirty="0" smtClean="0">
                <a:sym typeface="Wingdings" panose="05000000000000000000" pitchFamily="2" charset="2"/>
              </a:rPr>
              <a:t> yazılması gerekebilir bu da </a:t>
            </a:r>
            <a:r>
              <a:rPr lang="tr-TR" dirty="0" err="1" smtClean="0">
                <a:sym typeface="Wingdings" panose="05000000000000000000" pitchFamily="2" charset="2"/>
              </a:rPr>
              <a:t>backend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regression</a:t>
            </a:r>
            <a:r>
              <a:rPr lang="tr-TR" dirty="0" smtClean="0">
                <a:sym typeface="Wingdings" panose="05000000000000000000" pitchFamily="2" charset="2"/>
              </a:rPr>
              <a:t> ihtiyacını doğurur, örneğin </a:t>
            </a:r>
            <a:r>
              <a:rPr lang="tr-TR" dirty="0" err="1" smtClean="0">
                <a:sym typeface="Wingdings" panose="05000000000000000000" pitchFamily="2" charset="2"/>
              </a:rPr>
              <a:t>magnet</a:t>
            </a:r>
            <a:r>
              <a:rPr lang="tr-TR" dirty="0" smtClean="0">
                <a:sym typeface="Wingdings" panose="05000000000000000000" pitchFamily="2" charset="2"/>
              </a:rPr>
              <a:t> alan birinin bu %10lik aksesuar indirimine dahil olmaması en basit </a:t>
            </a:r>
            <a:r>
              <a:rPr lang="tr-TR" dirty="0" err="1" smtClean="0">
                <a:sym typeface="Wingdings" panose="05000000000000000000" pitchFamily="2" charset="2"/>
              </a:rPr>
              <a:t>feature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use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caselerden</a:t>
            </a:r>
            <a:r>
              <a:rPr lang="tr-TR" dirty="0" smtClean="0">
                <a:sym typeface="Wingdings" panose="05000000000000000000" pitchFamily="2" charset="2"/>
              </a:rPr>
              <a:t> biridir diyebilirim.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491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74567" y="91440"/>
            <a:ext cx="11878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7.Performance </a:t>
            </a:r>
            <a:r>
              <a:rPr lang="tr-TR" dirty="0" err="1" smtClean="0"/>
              <a:t>Testing</a:t>
            </a:r>
            <a:endParaRPr lang="tr-TR" dirty="0" smtClean="0"/>
          </a:p>
          <a:p>
            <a:endParaRPr lang="tr-TR" dirty="0"/>
          </a:p>
          <a:p>
            <a:r>
              <a:rPr lang="tr-TR" dirty="0" smtClean="0"/>
              <a:t>Sevdiğim alanlardan ancak şimdiye kadar profesyonel olarak işin içinde yer alamadığım branşlardan biri.</a:t>
            </a:r>
          </a:p>
          <a:p>
            <a:r>
              <a:rPr lang="tr-TR" dirty="0" smtClean="0"/>
              <a:t>Görev aldığım projelerde bu işi hep farklı ekipler üstlendi </a:t>
            </a:r>
            <a:r>
              <a:rPr lang="tr-TR" dirty="0" smtClean="0"/>
              <a:t>bana da </a:t>
            </a:r>
            <a:r>
              <a:rPr lang="tr-TR" dirty="0" err="1" smtClean="0"/>
              <a:t>mock</a:t>
            </a:r>
            <a:r>
              <a:rPr lang="tr-TR" dirty="0" smtClean="0"/>
              <a:t> servislerde </a:t>
            </a:r>
            <a:r>
              <a:rPr lang="tr-TR" dirty="0" err="1" smtClean="0"/>
              <a:t>jmeter</a:t>
            </a:r>
            <a:r>
              <a:rPr lang="tr-TR" dirty="0" smtClean="0"/>
              <a:t> </a:t>
            </a:r>
            <a:r>
              <a:rPr lang="tr-TR" dirty="0" err="1" smtClean="0"/>
              <a:t>jmx</a:t>
            </a:r>
            <a:r>
              <a:rPr lang="tr-TR" dirty="0" smtClean="0"/>
              <a:t> süitler oluşturmak kaldı diyebilirim.</a:t>
            </a:r>
          </a:p>
          <a:p>
            <a:r>
              <a:rPr lang="tr-TR" dirty="0" smtClean="0"/>
              <a:t>Bu işin önemi ise özellikle yılbaşı, </a:t>
            </a:r>
            <a:r>
              <a:rPr lang="tr-TR" dirty="0" err="1" smtClean="0"/>
              <a:t>blackfriday</a:t>
            </a:r>
            <a:r>
              <a:rPr lang="tr-TR" dirty="0" smtClean="0"/>
              <a:t>, </a:t>
            </a:r>
            <a:r>
              <a:rPr lang="tr-TR" dirty="0" err="1" smtClean="0"/>
              <a:t>sosyopix</a:t>
            </a:r>
            <a:r>
              <a:rPr lang="tr-TR" dirty="0" smtClean="0"/>
              <a:t> için 14 Şubat gibi dönemlerde ani </a:t>
            </a:r>
            <a:r>
              <a:rPr lang="tr-TR" dirty="0" err="1" smtClean="0"/>
              <a:t>transaction</a:t>
            </a:r>
            <a:r>
              <a:rPr lang="tr-TR" dirty="0" smtClean="0"/>
              <a:t> artışlarında web servislerin dayanıklılığı test edilebilir. TPS eşik değerleri ölçülebilir, </a:t>
            </a:r>
            <a:r>
              <a:rPr lang="tr-TR" dirty="0" err="1" smtClean="0"/>
              <a:t>load</a:t>
            </a:r>
            <a:r>
              <a:rPr lang="tr-TR" dirty="0" smtClean="0"/>
              <a:t> </a:t>
            </a:r>
            <a:r>
              <a:rPr lang="tr-TR" dirty="0" err="1" smtClean="0"/>
              <a:t>balancer</a:t>
            </a:r>
            <a:r>
              <a:rPr lang="tr-TR" dirty="0" smtClean="0"/>
              <a:t> kurguları </a:t>
            </a:r>
            <a:r>
              <a:rPr lang="tr-TR" dirty="0" err="1" smtClean="0"/>
              <a:t>yapılablir</a:t>
            </a:r>
            <a:r>
              <a:rPr lang="tr-TR" dirty="0" smtClean="0"/>
              <a:t>.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5" y="2332152"/>
            <a:ext cx="7620000" cy="423862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8221287" y="2818015"/>
            <a:ext cx="2859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Bu örnekte adamın işi zor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</a:p>
          <a:p>
            <a:r>
              <a:rPr lang="tr-TR" dirty="0" smtClean="0">
                <a:sym typeface="Wingdings" panose="05000000000000000000" pitchFamily="2" charset="2"/>
              </a:rPr>
              <a:t>1684/2107 yaklaşık %80 </a:t>
            </a:r>
            <a:r>
              <a:rPr lang="tr-TR" dirty="0" err="1" smtClean="0">
                <a:sym typeface="Wingdings" panose="05000000000000000000" pitchFamily="2" charset="2"/>
              </a:rPr>
              <a:t>error</a:t>
            </a:r>
            <a:r>
              <a:rPr lang="tr-TR" dirty="0" smtClean="0">
                <a:sym typeface="Wingdings" panose="05000000000000000000" pitchFamily="2" charset="2"/>
              </a:rPr>
              <a:t> rate almış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95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16131" y="110765"/>
            <a:ext cx="117708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8. </a:t>
            </a:r>
            <a:r>
              <a:rPr lang="tr-TR" dirty="0" err="1" smtClean="0"/>
              <a:t>Login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Security  </a:t>
            </a:r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Aynı anda </a:t>
            </a:r>
            <a:r>
              <a:rPr lang="tr-TR" dirty="0" err="1" smtClean="0"/>
              <a:t>login</a:t>
            </a:r>
            <a:r>
              <a:rPr lang="tr-TR" dirty="0" smtClean="0"/>
              <a:t> kapasitesi, </a:t>
            </a:r>
          </a:p>
          <a:p>
            <a:r>
              <a:rPr lang="tr-TR" dirty="0" err="1" smtClean="0"/>
              <a:t>penetration</a:t>
            </a:r>
            <a:r>
              <a:rPr lang="tr-TR" dirty="0" smtClean="0"/>
              <a:t> testler, </a:t>
            </a:r>
          </a:p>
          <a:p>
            <a:r>
              <a:rPr lang="tr-TR" dirty="0" smtClean="0"/>
              <a:t>güvenli olmayan erişimlerin engellenmesi</a:t>
            </a:r>
          </a:p>
          <a:p>
            <a:r>
              <a:rPr lang="tr-TR" dirty="0" smtClean="0"/>
              <a:t>Web </a:t>
            </a:r>
            <a:r>
              <a:rPr lang="tr-TR" dirty="0" err="1" smtClean="0"/>
              <a:t>attack</a:t>
            </a:r>
            <a:endParaRPr lang="tr-TR" dirty="0" smtClean="0"/>
          </a:p>
          <a:p>
            <a:r>
              <a:rPr lang="tr-TR" dirty="0" smtClean="0"/>
              <a:t>Gibi testler düşünebilir.</a:t>
            </a:r>
          </a:p>
          <a:p>
            <a:r>
              <a:rPr lang="tr-TR" dirty="0" err="1" smtClean="0"/>
              <a:t>Penetration</a:t>
            </a:r>
            <a:r>
              <a:rPr lang="tr-TR" dirty="0" smtClean="0"/>
              <a:t> test için önceden bir deneyimim yok ancak internette </a:t>
            </a:r>
            <a:r>
              <a:rPr lang="tr-TR" dirty="0" err="1" smtClean="0"/>
              <a:t>free</a:t>
            </a:r>
            <a:r>
              <a:rPr lang="tr-TR" dirty="0" smtClean="0"/>
              <a:t> </a:t>
            </a:r>
            <a:r>
              <a:rPr lang="tr-TR" dirty="0" err="1" smtClean="0"/>
              <a:t>open</a:t>
            </a:r>
            <a:r>
              <a:rPr lang="tr-TR" dirty="0" smtClean="0"/>
              <a:t> </a:t>
            </a:r>
            <a:r>
              <a:rPr lang="tr-TR" dirty="0" err="1" smtClean="0"/>
              <a:t>source</a:t>
            </a:r>
            <a:r>
              <a:rPr lang="tr-TR" dirty="0" smtClean="0"/>
              <a:t> </a:t>
            </a:r>
            <a:r>
              <a:rPr lang="tr-TR" dirty="0" err="1" smtClean="0"/>
              <a:t>toollar</a:t>
            </a:r>
            <a:r>
              <a:rPr lang="tr-TR" dirty="0" smtClean="0"/>
              <a:t> gördüm örneğin «NMAP» bunlardan biri.</a:t>
            </a:r>
          </a:p>
          <a:p>
            <a:r>
              <a:rPr lang="tr-TR" dirty="0" smtClean="0"/>
              <a:t>Buradaki yol haritası </a:t>
            </a:r>
            <a:r>
              <a:rPr lang="tr-TR" dirty="0" err="1" smtClean="0"/>
              <a:t>client</a:t>
            </a:r>
            <a:r>
              <a:rPr lang="tr-TR" dirty="0" smtClean="0"/>
              <a:t> ve </a:t>
            </a:r>
            <a:r>
              <a:rPr lang="tr-TR" dirty="0" err="1" smtClean="0"/>
              <a:t>backend</a:t>
            </a:r>
            <a:r>
              <a:rPr lang="tr-TR" dirty="0" smtClean="0"/>
              <a:t> </a:t>
            </a:r>
            <a:r>
              <a:rPr lang="tr-TR" dirty="0" err="1" smtClean="0"/>
              <a:t>developerlardan</a:t>
            </a:r>
            <a:r>
              <a:rPr lang="tr-TR" dirty="0" smtClean="0"/>
              <a:t> destek alarak güzel bir </a:t>
            </a:r>
            <a:r>
              <a:rPr lang="tr-TR" dirty="0" err="1" smtClean="0"/>
              <a:t>security</a:t>
            </a:r>
            <a:r>
              <a:rPr lang="tr-TR" dirty="0" smtClean="0"/>
              <a:t> test </a:t>
            </a:r>
            <a:r>
              <a:rPr lang="tr-TR" dirty="0" err="1" smtClean="0"/>
              <a:t>suite</a:t>
            </a:r>
            <a:r>
              <a:rPr lang="tr-TR" dirty="0" smtClean="0"/>
              <a:t> oluşturulabilirim</a:t>
            </a:r>
          </a:p>
          <a:p>
            <a:r>
              <a:rPr lang="tr-TR" dirty="0" err="1" smtClean="0"/>
              <a:t>Tool</a:t>
            </a:r>
            <a:r>
              <a:rPr lang="tr-TR" dirty="0" smtClean="0"/>
              <a:t> kararını da ortak </a:t>
            </a:r>
            <a:r>
              <a:rPr lang="tr-TR" dirty="0" err="1" smtClean="0"/>
              <a:t>alabliliriz</a:t>
            </a:r>
            <a:r>
              <a:rPr lang="tr-TR" dirty="0" smtClean="0"/>
              <a:t>.</a:t>
            </a:r>
            <a:endParaRPr lang="tr-TR" dirty="0"/>
          </a:p>
          <a:p>
            <a:r>
              <a:rPr lang="tr-TR" dirty="0" smtClean="0">
                <a:hlinkClick r:id="rId2"/>
              </a:rPr>
              <a:t>https://www.priviasecurity.com/nmap-nedir-part-3-3/</a:t>
            </a:r>
            <a:endParaRPr lang="tr-TR" dirty="0" smtClean="0"/>
          </a:p>
          <a:p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531" y="3690829"/>
            <a:ext cx="5059247" cy="316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6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250276" y="191193"/>
            <a:ext cx="300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Genel Tahmini Test Mimarisi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390698" y="658492"/>
            <a:ext cx="2069869" cy="404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Upcoming</a:t>
            </a:r>
            <a:r>
              <a:rPr lang="tr-TR" dirty="0" smtClean="0"/>
              <a:t> </a:t>
            </a:r>
            <a:r>
              <a:rPr lang="tr-TR" dirty="0" err="1" smtClean="0"/>
              <a:t>Feature</a:t>
            </a:r>
            <a:endParaRPr lang="tr-TR" dirty="0"/>
          </a:p>
        </p:txBody>
      </p:sp>
      <p:sp>
        <p:nvSpPr>
          <p:cNvPr id="8" name="Metin kutusu 7"/>
          <p:cNvSpPr txBox="1"/>
          <p:nvPr/>
        </p:nvSpPr>
        <p:spPr>
          <a:xfrm>
            <a:off x="390699" y="1702460"/>
            <a:ext cx="3581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Mobil Client </a:t>
            </a:r>
            <a:r>
              <a:rPr lang="tr-TR" dirty="0" err="1" smtClean="0"/>
              <a:t>Functional</a:t>
            </a:r>
            <a:r>
              <a:rPr lang="tr-TR" dirty="0" smtClean="0"/>
              <a:t> 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Web Client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Tests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Backend</a:t>
            </a:r>
            <a:r>
              <a:rPr lang="tr-TR" dirty="0" smtClean="0"/>
              <a:t> </a:t>
            </a:r>
            <a:r>
              <a:rPr lang="tr-TR" dirty="0" err="1" smtClean="0"/>
              <a:t>Fuctional</a:t>
            </a:r>
            <a:r>
              <a:rPr lang="tr-TR" dirty="0" smtClean="0"/>
              <a:t> </a:t>
            </a:r>
            <a:r>
              <a:rPr lang="tr-TR" dirty="0" err="1" smtClean="0"/>
              <a:t>Tests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Web Servis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Tests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Performance</a:t>
            </a:r>
            <a:r>
              <a:rPr lang="tr-TR" dirty="0" smtClean="0"/>
              <a:t> </a:t>
            </a:r>
            <a:r>
              <a:rPr lang="tr-TR" dirty="0" err="1" smtClean="0"/>
              <a:t>Tests</a:t>
            </a:r>
            <a:endParaRPr lang="tr-TR" dirty="0" smtClean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27" y="3932646"/>
            <a:ext cx="5434849" cy="2925354"/>
          </a:xfrm>
          <a:prstGeom prst="rect">
            <a:avLst/>
          </a:prstGeom>
        </p:spPr>
      </p:pic>
      <p:cxnSp>
        <p:nvCxnSpPr>
          <p:cNvPr id="15" name="Düz Ok Bağlayıcısı 14"/>
          <p:cNvCxnSpPr>
            <a:stCxn id="4" idx="2"/>
            <a:endCxn id="8" idx="0"/>
          </p:cNvCxnSpPr>
          <p:nvPr/>
        </p:nvCxnSpPr>
        <p:spPr>
          <a:xfrm>
            <a:off x="1425633" y="1062924"/>
            <a:ext cx="755679" cy="63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/>
          <p:cNvSpPr txBox="1"/>
          <p:nvPr/>
        </p:nvSpPr>
        <p:spPr>
          <a:xfrm>
            <a:off x="133002" y="3354545"/>
            <a:ext cx="3541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Her test aşamasından sonra </a:t>
            </a:r>
            <a:r>
              <a:rPr lang="tr-TR" dirty="0" err="1" smtClean="0"/>
              <a:t>jira</a:t>
            </a:r>
            <a:r>
              <a:rPr lang="tr-TR" dirty="0" smtClean="0"/>
              <a:t> ve </a:t>
            </a:r>
            <a:r>
              <a:rPr lang="tr-TR" dirty="0" err="1" smtClean="0"/>
              <a:t>confluence</a:t>
            </a:r>
            <a:r>
              <a:rPr lang="tr-TR" dirty="0" smtClean="0"/>
              <a:t> </a:t>
            </a:r>
            <a:r>
              <a:rPr lang="tr-TR" dirty="0" err="1" smtClean="0"/>
              <a:t>dökümantasyon</a:t>
            </a:r>
            <a:r>
              <a:rPr lang="tr-TR" dirty="0" smtClean="0"/>
              <a:t>,</a:t>
            </a:r>
          </a:p>
          <a:p>
            <a:r>
              <a:rPr lang="tr-TR" dirty="0" smtClean="0"/>
              <a:t>Dinamik Test Bilgi Kütüphanesi,</a:t>
            </a:r>
          </a:p>
          <a:p>
            <a:r>
              <a:rPr lang="tr-TR" dirty="0" smtClean="0"/>
              <a:t>Kayıt altına alına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Cases</a:t>
            </a:r>
            <a:endParaRPr lang="tr-TR" dirty="0" smtClean="0"/>
          </a:p>
          <a:p>
            <a:r>
              <a:rPr lang="tr-TR" dirty="0" smtClean="0"/>
              <a:t>Güncellenen </a:t>
            </a:r>
            <a:r>
              <a:rPr lang="tr-TR" dirty="0" err="1" smtClean="0"/>
              <a:t>Regression</a:t>
            </a:r>
            <a:r>
              <a:rPr lang="tr-TR" dirty="0" smtClean="0"/>
              <a:t> Suite</a:t>
            </a:r>
          </a:p>
        </p:txBody>
      </p:sp>
      <p:sp>
        <p:nvSpPr>
          <p:cNvPr id="18" name="Metin kutusu 17"/>
          <p:cNvSpPr txBox="1"/>
          <p:nvPr/>
        </p:nvSpPr>
        <p:spPr>
          <a:xfrm>
            <a:off x="6093229" y="1062924"/>
            <a:ext cx="509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Web ve Mobil </a:t>
            </a:r>
            <a:r>
              <a:rPr lang="tr-TR" dirty="0" err="1" smtClean="0"/>
              <a:t>Clients</a:t>
            </a:r>
            <a:r>
              <a:rPr lang="tr-TR" dirty="0" smtClean="0"/>
              <a:t> için </a:t>
            </a:r>
            <a:r>
              <a:rPr lang="tr-TR" dirty="0" err="1" smtClean="0"/>
              <a:t>Regression</a:t>
            </a:r>
            <a:r>
              <a:rPr lang="tr-TR" dirty="0" smtClean="0"/>
              <a:t> UI otomasyonu</a:t>
            </a:r>
            <a:endParaRPr lang="tr-TR" dirty="0"/>
          </a:p>
        </p:txBody>
      </p:sp>
      <p:cxnSp>
        <p:nvCxnSpPr>
          <p:cNvPr id="24" name="Düz Ok Bağlayıcısı 23"/>
          <p:cNvCxnSpPr>
            <a:stCxn id="8" idx="2"/>
            <a:endCxn id="17" idx="0"/>
          </p:cNvCxnSpPr>
          <p:nvPr/>
        </p:nvCxnSpPr>
        <p:spPr>
          <a:xfrm flipH="1">
            <a:off x="1903614" y="3179788"/>
            <a:ext cx="277698" cy="174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6032962" y="2735846"/>
            <a:ext cx="521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Backend</a:t>
            </a:r>
            <a:r>
              <a:rPr lang="tr-TR" dirty="0" smtClean="0"/>
              <a:t> </a:t>
            </a:r>
            <a:r>
              <a:rPr lang="tr-TR" dirty="0" err="1" smtClean="0"/>
              <a:t>Modulleri</a:t>
            </a:r>
            <a:r>
              <a:rPr lang="tr-TR" dirty="0" smtClean="0"/>
              <a:t> için Dinamik </a:t>
            </a:r>
            <a:r>
              <a:rPr lang="tr-TR" dirty="0" err="1" smtClean="0"/>
              <a:t>Jmeter</a:t>
            </a:r>
            <a:r>
              <a:rPr lang="tr-TR" dirty="0" smtClean="0"/>
              <a:t> ve </a:t>
            </a:r>
            <a:r>
              <a:rPr lang="tr-TR" dirty="0" err="1" smtClean="0"/>
              <a:t>Postman</a:t>
            </a:r>
            <a:r>
              <a:rPr lang="tr-TR" dirty="0" smtClean="0"/>
              <a:t> </a:t>
            </a:r>
            <a:r>
              <a:rPr lang="tr-TR" dirty="0" err="1" smtClean="0"/>
              <a:t>Regresion</a:t>
            </a:r>
            <a:r>
              <a:rPr lang="tr-TR" dirty="0" smtClean="0"/>
              <a:t> </a:t>
            </a:r>
            <a:r>
              <a:rPr lang="tr-TR" dirty="0" err="1" smtClean="0"/>
              <a:t>Suites</a:t>
            </a:r>
            <a:r>
              <a:rPr lang="tr-TR" dirty="0" smtClean="0"/>
              <a:t> özellikle Web Servislerimiz için</a:t>
            </a:r>
            <a:endParaRPr lang="tr-TR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6032962" y="1720183"/>
            <a:ext cx="5070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Web Client UI </a:t>
            </a:r>
            <a:r>
              <a:rPr lang="tr-TR" dirty="0" err="1" smtClean="0"/>
              <a:t>Regression</a:t>
            </a:r>
            <a:r>
              <a:rPr lang="tr-TR" dirty="0" smtClean="0"/>
              <a:t> </a:t>
            </a:r>
            <a:r>
              <a:rPr lang="tr-TR" dirty="0" err="1" smtClean="0"/>
              <a:t>Modulleri</a:t>
            </a:r>
            <a:r>
              <a:rPr lang="tr-TR" dirty="0" smtClean="0"/>
              <a:t> için </a:t>
            </a:r>
            <a:r>
              <a:rPr lang="tr-TR" dirty="0" err="1" smtClean="0"/>
              <a:t>Selenium</a:t>
            </a:r>
            <a:endParaRPr lang="tr-TR" dirty="0" smtClean="0"/>
          </a:p>
          <a:p>
            <a:r>
              <a:rPr lang="tr-TR" dirty="0" smtClean="0"/>
              <a:t>Mobil Client UI </a:t>
            </a:r>
            <a:r>
              <a:rPr lang="tr-TR" dirty="0" err="1"/>
              <a:t>Regression</a:t>
            </a:r>
            <a:r>
              <a:rPr lang="tr-TR" dirty="0"/>
              <a:t> </a:t>
            </a:r>
            <a:r>
              <a:rPr lang="tr-TR" dirty="0" err="1"/>
              <a:t>Modulleri</a:t>
            </a:r>
            <a:r>
              <a:rPr lang="tr-TR" dirty="0"/>
              <a:t> için </a:t>
            </a:r>
            <a:r>
              <a:rPr lang="tr-TR" dirty="0" err="1"/>
              <a:t>Selenium</a:t>
            </a:r>
            <a:endParaRPr lang="tr-TR" dirty="0"/>
          </a:p>
          <a:p>
            <a:endParaRPr lang="tr-TR" dirty="0"/>
          </a:p>
        </p:txBody>
      </p:sp>
      <p:cxnSp>
        <p:nvCxnSpPr>
          <p:cNvPr id="31" name="Düz Ok Bağlayıcısı 30"/>
          <p:cNvCxnSpPr>
            <a:stCxn id="17" idx="3"/>
            <a:endCxn id="18" idx="1"/>
          </p:cNvCxnSpPr>
          <p:nvPr/>
        </p:nvCxnSpPr>
        <p:spPr>
          <a:xfrm flipV="1">
            <a:off x="3674225" y="1247590"/>
            <a:ext cx="2419004" cy="284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10318576" y="5036184"/>
            <a:ext cx="1285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Özet</a:t>
            </a:r>
          </a:p>
          <a:p>
            <a:r>
              <a:rPr lang="tr-TR" dirty="0" smtClean="0"/>
              <a:t>Test Taktik</a:t>
            </a:r>
          </a:p>
          <a:p>
            <a:r>
              <a:rPr lang="tr-TR" dirty="0" smtClean="0"/>
              <a:t>Planımız</a:t>
            </a:r>
          </a:p>
        </p:txBody>
      </p:sp>
    </p:spTree>
    <p:extLst>
      <p:ext uri="{BB962C8B-B14F-4D97-AF65-F5344CB8AC3E}">
        <p14:creationId xmlns:p14="http://schemas.microsoft.com/office/powerpoint/2010/main" val="44362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171825" y="104775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POSTMAN WEB SERVICE TESTING SUIT</a:t>
            </a:r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74107"/>
            <a:ext cx="10506075" cy="5347107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904875" y="6115050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Basit bir </a:t>
            </a:r>
            <a:r>
              <a:rPr lang="tr-TR" dirty="0" err="1" smtClean="0"/>
              <a:t>mock</a:t>
            </a:r>
            <a:r>
              <a:rPr lang="tr-TR" dirty="0" smtClean="0"/>
              <a:t> </a:t>
            </a:r>
            <a:r>
              <a:rPr lang="tr-TR" dirty="0" err="1" smtClean="0"/>
              <a:t>get</a:t>
            </a:r>
            <a:r>
              <a:rPr lang="tr-TR" dirty="0" smtClean="0"/>
              <a:t> isteği</a:t>
            </a:r>
          </a:p>
        </p:txBody>
      </p:sp>
    </p:spTree>
    <p:extLst>
      <p:ext uri="{BB962C8B-B14F-4D97-AF65-F5344CB8AC3E}">
        <p14:creationId xmlns:p14="http://schemas.microsoft.com/office/powerpoint/2010/main" val="130300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886" y="0"/>
            <a:ext cx="12287482" cy="3124199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0" y="3242309"/>
            <a:ext cx="110394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Burada </a:t>
            </a:r>
            <a:r>
              <a:rPr lang="tr-TR" dirty="0" err="1" smtClean="0"/>
              <a:t>page,per_page,total</a:t>
            </a:r>
            <a:r>
              <a:rPr lang="tr-TR" dirty="0" smtClean="0"/>
              <a:t> ve </a:t>
            </a:r>
            <a:r>
              <a:rPr lang="tr-TR" dirty="0" err="1" smtClean="0"/>
              <a:t>total_pages</a:t>
            </a:r>
            <a:r>
              <a:rPr lang="tr-TR" dirty="0" smtClean="0"/>
              <a:t> objeleri kontrol edilecek.</a:t>
            </a:r>
          </a:p>
          <a:p>
            <a:r>
              <a:rPr lang="tr-TR" dirty="0" smtClean="0"/>
              <a:t>Ayrıca </a:t>
            </a:r>
            <a:r>
              <a:rPr lang="tr-TR" dirty="0" err="1" smtClean="0"/>
              <a:t>response</a:t>
            </a:r>
            <a:r>
              <a:rPr lang="tr-TR" dirty="0" smtClean="0"/>
              <a:t> süresi, </a:t>
            </a:r>
            <a:r>
              <a:rPr lang="tr-TR" dirty="0" err="1" smtClean="0"/>
              <a:t>status</a:t>
            </a:r>
            <a:r>
              <a:rPr lang="tr-TR" dirty="0" smtClean="0"/>
              <a:t> ok </a:t>
            </a:r>
            <a:r>
              <a:rPr lang="tr-TR" dirty="0" err="1" smtClean="0"/>
              <a:t>string</a:t>
            </a:r>
            <a:r>
              <a:rPr lang="tr-TR" dirty="0" smtClean="0"/>
              <a:t> ve </a:t>
            </a:r>
            <a:r>
              <a:rPr lang="tr-TR" dirty="0" err="1" smtClean="0"/>
              <a:t>code</a:t>
            </a:r>
            <a:r>
              <a:rPr lang="tr-TR" dirty="0" smtClean="0"/>
              <a:t> </a:t>
            </a:r>
            <a:r>
              <a:rPr lang="tr-TR" dirty="0" err="1" smtClean="0"/>
              <a:t>değeleri</a:t>
            </a:r>
            <a:r>
              <a:rPr lang="tr-TR" dirty="0" smtClean="0"/>
              <a:t>, </a:t>
            </a:r>
            <a:r>
              <a:rPr lang="tr-TR" dirty="0" err="1" smtClean="0"/>
              <a:t>content-type</a:t>
            </a:r>
            <a:r>
              <a:rPr lang="tr-TR" dirty="0" smtClean="0"/>
              <a:t> </a:t>
            </a:r>
          </a:p>
          <a:p>
            <a:r>
              <a:rPr lang="tr-TR" dirty="0" err="1" smtClean="0"/>
              <a:t>header</a:t>
            </a:r>
            <a:r>
              <a:rPr lang="tr-TR" dirty="0" smtClean="0"/>
              <a:t> da kontrol edilecek.</a:t>
            </a:r>
          </a:p>
          <a:p>
            <a:endParaRPr lang="tr-TR" dirty="0"/>
          </a:p>
          <a:p>
            <a:r>
              <a:rPr lang="tr-TR" dirty="0" smtClean="0"/>
              <a:t>Yandaki resimde bu kontrol için </a:t>
            </a:r>
            <a:r>
              <a:rPr lang="tr-TR" dirty="0" err="1" smtClean="0"/>
              <a:t>pm.test</a:t>
            </a:r>
            <a:r>
              <a:rPr lang="tr-TR" dirty="0" smtClean="0"/>
              <a:t> kütüphanesinin bize sunduğu </a:t>
            </a:r>
            <a:r>
              <a:rPr lang="tr-TR" dirty="0" err="1" smtClean="0"/>
              <a:t>methodlar</a:t>
            </a:r>
            <a:endParaRPr lang="tr-TR" dirty="0" smtClean="0"/>
          </a:p>
          <a:p>
            <a:r>
              <a:rPr lang="tr-TR" dirty="0" smtClean="0"/>
              <a:t>Kullanarak kısa bir </a:t>
            </a:r>
            <a:r>
              <a:rPr lang="tr-TR" dirty="0" err="1" smtClean="0"/>
              <a:t>demo</a:t>
            </a:r>
            <a:r>
              <a:rPr lang="tr-TR" dirty="0" smtClean="0"/>
              <a:t> hazırladım, ek olarak </a:t>
            </a:r>
            <a:r>
              <a:rPr lang="tr-TR" dirty="0" err="1" smtClean="0"/>
              <a:t>Runner</a:t>
            </a:r>
            <a:r>
              <a:rPr lang="tr-TR" dirty="0" smtClean="0"/>
              <a:t> ile </a:t>
            </a:r>
            <a:r>
              <a:rPr lang="tr-TR" dirty="0" err="1" smtClean="0"/>
              <a:t>iterasyon</a:t>
            </a:r>
            <a:r>
              <a:rPr lang="tr-TR" dirty="0" smtClean="0"/>
              <a:t> sayımızı belir-</a:t>
            </a:r>
          </a:p>
          <a:p>
            <a:r>
              <a:rPr lang="tr-TR" dirty="0" err="1" smtClean="0"/>
              <a:t>Leyerek</a:t>
            </a:r>
            <a:r>
              <a:rPr lang="tr-TR" dirty="0" smtClean="0"/>
              <a:t> web </a:t>
            </a:r>
            <a:r>
              <a:rPr lang="tr-TR" dirty="0" err="1" smtClean="0"/>
              <a:t>servicin</a:t>
            </a:r>
            <a:r>
              <a:rPr lang="tr-TR" dirty="0"/>
              <a:t> </a:t>
            </a:r>
            <a:r>
              <a:rPr lang="tr-TR" dirty="0" smtClean="0"/>
              <a:t>100 adet </a:t>
            </a:r>
            <a:r>
              <a:rPr lang="tr-TR" dirty="0" err="1" smtClean="0"/>
              <a:t>trx</a:t>
            </a:r>
            <a:r>
              <a:rPr lang="tr-TR" dirty="0"/>
              <a:t> </a:t>
            </a:r>
            <a:r>
              <a:rPr lang="tr-TR" dirty="0" smtClean="0"/>
              <a:t>içinde ne kadar başarısız döndüğünü de </a:t>
            </a:r>
          </a:p>
          <a:p>
            <a:r>
              <a:rPr lang="tr-TR" dirty="0" smtClean="0"/>
              <a:t>Kontrol edebiliriz.</a:t>
            </a:r>
          </a:p>
          <a:p>
            <a:endParaRPr lang="tr-TR" dirty="0"/>
          </a:p>
          <a:p>
            <a:r>
              <a:rPr lang="tr-TR" dirty="0" smtClean="0"/>
              <a:t>Collection ve </a:t>
            </a:r>
            <a:r>
              <a:rPr lang="tr-TR" dirty="0" err="1" smtClean="0"/>
              <a:t>Runner</a:t>
            </a:r>
            <a:r>
              <a:rPr lang="tr-TR" dirty="0" smtClean="0"/>
              <a:t> çıktılarını sizinle paylaşıyor olacağım, dilerseniz oradan</a:t>
            </a:r>
          </a:p>
          <a:p>
            <a:r>
              <a:rPr lang="tr-TR" dirty="0" smtClean="0"/>
              <a:t>Daha detaylı inceleyebilirsiniz.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21" y="2581275"/>
            <a:ext cx="4600575" cy="4276725"/>
          </a:xfrm>
          <a:prstGeom prst="rect">
            <a:avLst/>
          </a:prstGeom>
        </p:spPr>
      </p:pic>
      <p:cxnSp>
        <p:nvCxnSpPr>
          <p:cNvPr id="11" name="Düz Ok Bağlayıcısı 10"/>
          <p:cNvCxnSpPr/>
          <p:nvPr/>
        </p:nvCxnSpPr>
        <p:spPr>
          <a:xfrm flipV="1">
            <a:off x="9582150" y="180975"/>
            <a:ext cx="38100" cy="250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 flipH="1" flipV="1">
            <a:off x="9848850" y="180975"/>
            <a:ext cx="47625" cy="476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flipH="1" flipV="1">
            <a:off x="1619250" y="1171575"/>
            <a:ext cx="6696075" cy="2266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68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0"/>
            <a:ext cx="10677525" cy="681578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4629149" y="4676775"/>
            <a:ext cx="540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Burada demo2 </a:t>
            </a:r>
            <a:r>
              <a:rPr lang="tr-TR" dirty="0" err="1" smtClean="0"/>
              <a:t>request</a:t>
            </a:r>
            <a:r>
              <a:rPr lang="tr-TR" dirty="0" smtClean="0"/>
              <a:t> için </a:t>
            </a:r>
            <a:r>
              <a:rPr lang="tr-TR" dirty="0" err="1" smtClean="0"/>
              <a:t>response</a:t>
            </a:r>
            <a:r>
              <a:rPr lang="tr-TR" dirty="0" smtClean="0"/>
              <a:t> testleri görüntülenmiştir.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141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-25167"/>
            <a:ext cx="12058650" cy="688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2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990850" y="66675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Ve 100’lük </a:t>
            </a:r>
            <a:r>
              <a:rPr lang="tr-TR" dirty="0" err="1" smtClean="0"/>
              <a:t>iterasyon</a:t>
            </a:r>
            <a:r>
              <a:rPr lang="tr-TR" dirty="0" smtClean="0"/>
              <a:t> çıktısı</a:t>
            </a:r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11410950" cy="6172260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4933950" y="3857625"/>
            <a:ext cx="6219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2 kere </a:t>
            </a:r>
            <a:r>
              <a:rPr lang="tr-TR" dirty="0" err="1" smtClean="0"/>
              <a:t>response</a:t>
            </a:r>
            <a:r>
              <a:rPr lang="tr-TR" dirty="0" smtClean="0"/>
              <a:t> time 200ms üzerine çıkmış</a:t>
            </a:r>
          </a:p>
          <a:p>
            <a:r>
              <a:rPr lang="tr-TR" dirty="0" smtClean="0"/>
              <a:t>İki </a:t>
            </a:r>
            <a:r>
              <a:rPr lang="tr-TR" dirty="0" err="1" smtClean="0"/>
              <a:t>collection</a:t>
            </a:r>
            <a:r>
              <a:rPr lang="tr-TR" dirty="0" smtClean="0"/>
              <a:t> toplam 11 </a:t>
            </a:r>
            <a:r>
              <a:rPr lang="tr-TR" dirty="0" err="1" smtClean="0"/>
              <a:t>case</a:t>
            </a:r>
            <a:r>
              <a:rPr lang="tr-TR" dirty="0" smtClean="0"/>
              <a:t> vardı, 11*100=1100</a:t>
            </a:r>
          </a:p>
          <a:p>
            <a:r>
              <a:rPr lang="tr-TR" dirty="0" smtClean="0"/>
              <a:t>İki fail varsa fail oranı bu </a:t>
            </a:r>
            <a:r>
              <a:rPr lang="tr-TR" dirty="0" err="1" smtClean="0"/>
              <a:t>mock</a:t>
            </a:r>
            <a:r>
              <a:rPr lang="tr-TR" dirty="0" smtClean="0"/>
              <a:t> web servisler için 0,0018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1246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114675" y="114300"/>
            <a:ext cx="4657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/>
              <a:t>JMETER DEMO</a:t>
            </a:r>
            <a:endParaRPr lang="tr-TR" sz="3200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23" y="699075"/>
            <a:ext cx="12205823" cy="2881312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361950" y="3743325"/>
            <a:ext cx="1022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20 saniyede 100 </a:t>
            </a:r>
            <a:r>
              <a:rPr lang="tr-TR" dirty="0" err="1" smtClean="0"/>
              <a:t>threadlik</a:t>
            </a:r>
            <a:r>
              <a:rPr lang="tr-TR" dirty="0" smtClean="0"/>
              <a:t> bir set oluşturmak istedim, </a:t>
            </a:r>
            <a:r>
              <a:rPr lang="tr-TR" dirty="0" err="1" smtClean="0"/>
              <a:t>sosyopix</a:t>
            </a:r>
            <a:r>
              <a:rPr lang="tr-TR" dirty="0" smtClean="0"/>
              <a:t> ana sayfa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24" y="4165161"/>
            <a:ext cx="12203203" cy="251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9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343133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133349" y="5486400"/>
            <a:ext cx="11668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View</a:t>
            </a:r>
            <a:r>
              <a:rPr lang="tr-TR" dirty="0" smtClean="0"/>
              <a:t> </a:t>
            </a:r>
            <a:r>
              <a:rPr lang="tr-TR" dirty="0" err="1" smtClean="0"/>
              <a:t>results</a:t>
            </a:r>
            <a:r>
              <a:rPr lang="tr-TR" dirty="0" smtClean="0"/>
              <a:t> in </a:t>
            </a:r>
            <a:r>
              <a:rPr lang="tr-TR" dirty="0" err="1" smtClean="0"/>
              <a:t>Table</a:t>
            </a:r>
            <a:r>
              <a:rPr lang="tr-TR" dirty="0" smtClean="0"/>
              <a:t> üzerinden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smtClean="0"/>
              <a:t>hangi </a:t>
            </a:r>
            <a:r>
              <a:rPr lang="tr-TR" dirty="0" err="1" smtClean="0"/>
              <a:t>threadlerin</a:t>
            </a:r>
            <a:r>
              <a:rPr lang="tr-TR" dirty="0" smtClean="0"/>
              <a:t> başarısız/başarılı bittiğini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 smtClean="0"/>
              <a:t>Sample</a:t>
            </a:r>
            <a:r>
              <a:rPr lang="tr-TR" dirty="0" smtClean="0"/>
              <a:t> time sürelerini</a:t>
            </a:r>
          </a:p>
          <a:p>
            <a:r>
              <a:rPr lang="tr-TR" dirty="0" smtClean="0"/>
              <a:t>Gibi değerleri görüntüleyebiliyoruz.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4955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0168" cy="3162300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0" y="3305175"/>
            <a:ext cx="11991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Sosyopix</a:t>
            </a:r>
            <a:r>
              <a:rPr lang="tr-TR" dirty="0"/>
              <a:t> </a:t>
            </a:r>
            <a:r>
              <a:rPr lang="tr-TR" dirty="0" err="1" smtClean="0"/>
              <a:t>Thread</a:t>
            </a:r>
            <a:r>
              <a:rPr lang="tr-TR" dirty="0" smtClean="0"/>
              <a:t> Grubuna </a:t>
            </a:r>
            <a:r>
              <a:rPr lang="tr-TR" dirty="0" err="1" smtClean="0"/>
              <a:t>Responce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200 kontrolü eklenerek </a:t>
            </a:r>
            <a:r>
              <a:rPr lang="tr-TR" dirty="0" err="1" smtClean="0"/>
              <a:t>Assertion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r>
              <a:rPr lang="tr-TR" dirty="0" smtClean="0"/>
              <a:t> ile 100lük setten </a:t>
            </a:r>
            <a:r>
              <a:rPr lang="tr-TR" dirty="0" err="1" smtClean="0"/>
              <a:t>başarız</a:t>
            </a:r>
            <a:r>
              <a:rPr lang="tr-TR" dirty="0" smtClean="0"/>
              <a:t> olanları görebilir,</a:t>
            </a:r>
          </a:p>
          <a:p>
            <a:r>
              <a:rPr lang="tr-TR" dirty="0" err="1" smtClean="0"/>
              <a:t>Aggregate</a:t>
            </a:r>
            <a:r>
              <a:rPr lang="tr-TR" dirty="0" smtClean="0"/>
              <a:t> Report ile </a:t>
            </a:r>
            <a:r>
              <a:rPr lang="tr-TR" dirty="0" err="1" smtClean="0"/>
              <a:t>error</a:t>
            </a:r>
            <a:r>
              <a:rPr lang="tr-TR" dirty="0" smtClean="0"/>
              <a:t> oranı </a:t>
            </a:r>
            <a:r>
              <a:rPr lang="tr-TR" dirty="0" err="1" smtClean="0"/>
              <a:t>incelenbilir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 err="1" smtClean="0"/>
              <a:t>Sosyopix.jmx</a:t>
            </a:r>
            <a:r>
              <a:rPr lang="tr-TR" dirty="0" smtClean="0"/>
              <a:t> file sizinle paylaşacağım, sunumda yer alan kontrol ve detayları </a:t>
            </a:r>
            <a:r>
              <a:rPr lang="tr-TR" dirty="0" err="1" smtClean="0"/>
              <a:t>jmeter’den</a:t>
            </a:r>
            <a:r>
              <a:rPr lang="tr-TR" dirty="0" smtClean="0"/>
              <a:t> </a:t>
            </a:r>
            <a:r>
              <a:rPr lang="tr-TR" dirty="0" err="1" smtClean="0"/>
              <a:t>jmx</a:t>
            </a:r>
            <a:r>
              <a:rPr lang="tr-TR" dirty="0" smtClean="0"/>
              <a:t> file açarak dilerseniz daha detaylı </a:t>
            </a:r>
            <a:r>
              <a:rPr lang="tr-TR" dirty="0" err="1" smtClean="0"/>
              <a:t>incelyebilirsiniz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564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12" y="171450"/>
            <a:ext cx="12205112" cy="482917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1600"/>
            <a:ext cx="12192000" cy="1410435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8839200" y="3433763"/>
            <a:ext cx="287655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%7 fail oranımız var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974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073110" y="2967335"/>
            <a:ext cx="4045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TEŞEKKÜRLER</a:t>
            </a:r>
            <a:endParaRPr lang="tr-T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470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1012</Words>
  <Application>Microsoft Office PowerPoint</Application>
  <PresentationFormat>Geniş ekran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Teması</vt:lpstr>
      <vt:lpstr>SOSYOPIX  TEST ENGINEERING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DELL</dc:creator>
  <cp:lastModifiedBy>DELL</cp:lastModifiedBy>
  <cp:revision>22</cp:revision>
  <dcterms:created xsi:type="dcterms:W3CDTF">2020-10-22T21:32:24Z</dcterms:created>
  <dcterms:modified xsi:type="dcterms:W3CDTF">2020-10-24T19:00:32Z</dcterms:modified>
</cp:coreProperties>
</file>